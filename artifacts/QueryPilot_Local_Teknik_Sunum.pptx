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ed2bf1745b4e74" /><Relationship Type="http://schemas.openxmlformats.org/officeDocument/2006/relationships/extended-properties" Target="/docProps/app.xml" Id="R04e8b8bf191a48c9" /><Relationship Type="http://schemas.openxmlformats.org/officeDocument/2006/relationships/officeDocument" Target="/ppt/presentation.xml" Id="R26ed4ef37c1640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d8c8f28276451e"/>
  </p:sldMasterIdLst>
  <p:notesMasterIdLst>
    <p:notesMasterId xmlns:r="http://schemas.openxmlformats.org/officeDocument/2006/relationships" r:id="R6e1aedb70a1a4148"/>
  </p:notesMasterIdLst>
  <p:sldIdLst>
    <p:sldId xmlns:r="http://schemas.openxmlformats.org/officeDocument/2006/relationships" id="256" r:id="R31014305a5ad4b9f"/>
    <p:sldId xmlns:r="http://schemas.openxmlformats.org/officeDocument/2006/relationships" id="257" r:id="Rc8ff9f2b361b455d"/>
    <p:sldId xmlns:r="http://schemas.openxmlformats.org/officeDocument/2006/relationships" id="258" r:id="Rb0b132a5712d43a7"/>
    <p:sldId xmlns:r="http://schemas.openxmlformats.org/officeDocument/2006/relationships" id="259" r:id="R19261e963aa44bbc"/>
    <p:sldId xmlns:r="http://schemas.openxmlformats.org/officeDocument/2006/relationships" id="260" r:id="R2fc0b1b4b8bc444b"/>
    <p:sldId xmlns:r="http://schemas.openxmlformats.org/officeDocument/2006/relationships" id="261" r:id="Ra398c870c43547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59a5bcd0014343" /><Relationship Type="http://schemas.openxmlformats.org/officeDocument/2006/relationships/slideMaster" Target="/ppt/slideMasters/slideMaster1.xml" Id="Rd0d8c8f28276451e" /><Relationship Type="http://schemas.openxmlformats.org/officeDocument/2006/relationships/notesMaster" Target="/ppt/notesMasters/notesMaster1.xml" Id="R6e1aedb70a1a4148" /><Relationship Type="http://schemas.openxmlformats.org/officeDocument/2006/relationships/presProps" Target="/ppt/presProps.xml" Id="Rbaef677550784a35" /><Relationship Type="http://schemas.openxmlformats.org/officeDocument/2006/relationships/tableStyles" Target="/ppt/tableStyles.xml" Id="R63e899160d1e4767" /><Relationship Type="http://schemas.openxmlformats.org/officeDocument/2006/relationships/slide" Target="/ppt/slides/slide1.xml" Id="R31014305a5ad4b9f" /><Relationship Type="http://schemas.openxmlformats.org/officeDocument/2006/relationships/slide" Target="/ppt/slides/slide2.xml" Id="Rc8ff9f2b361b455d" /><Relationship Type="http://schemas.openxmlformats.org/officeDocument/2006/relationships/slide" Target="/ppt/slides/slide3.xml" Id="Rb0b132a5712d43a7" /><Relationship Type="http://schemas.openxmlformats.org/officeDocument/2006/relationships/slide" Target="/ppt/slides/slide4.xml" Id="R19261e963aa44bbc" /><Relationship Type="http://schemas.openxmlformats.org/officeDocument/2006/relationships/slide" Target="/ppt/slides/slide5.xml" Id="R2fc0b1b4b8bc444b" /><Relationship Type="http://schemas.openxmlformats.org/officeDocument/2006/relationships/slide" Target="/ppt/slides/slide6.xml" Id="Ra398c870c43547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4b1ffcdb8b42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00209686924398" /><Relationship Type="http://schemas.openxmlformats.org/officeDocument/2006/relationships/notesMaster" Target="/ppt/notesMasters/notesMaster1.xml" Id="Rc88008816b2947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d62c8005f94a70" /><Relationship Type="http://schemas.openxmlformats.org/officeDocument/2006/relationships/notesMaster" Target="/ppt/notesMasters/notesMaster1.xml" Id="R1132601cde2148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263ed441864767" /><Relationship Type="http://schemas.openxmlformats.org/officeDocument/2006/relationships/notesMaster" Target="/ppt/notesMasters/notesMaster1.xml" Id="Rd2c44e22cc7647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6fc2f82a6446d6" /><Relationship Type="http://schemas.openxmlformats.org/officeDocument/2006/relationships/notesMaster" Target="/ppt/notesMasters/notesMaster1.xml" Id="Rf67513bd14624a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8a01ab571649c3" /><Relationship Type="http://schemas.openxmlformats.org/officeDocument/2006/relationships/notesMaster" Target="/ppt/notesMasters/notesMaster1.xml" Id="Rc2ecedebd6c04a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f196dea86b48eb" /><Relationship Type="http://schemas.openxmlformats.org/officeDocument/2006/relationships/notesMaster" Target="/ppt/notesMasters/notesMaster1.xml" Id="Ra7ae1add037240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central design choice: plan facts and recommendations come from rules; the local model is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C:\Users\Eray\SEZAR\PROJECTS\QueryPilot\README.md</a:t>
            </a:r>
          </a:p>
          <a:p xmlns:a="http://schemas.openxmlformats.org/drawingml/2006/main">
            <a:r>
              <a:t>- C:\Users\Eray\SEZAR\PROJECTS\QueryPilot\docs\architecture.md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first API response is complete before retrieval or inference begins.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C:\Users\Eray\SEZAR\PROJECTS\QueryPilot\docs\architecture.md</a:t>
            </a:r>
          </a:p>
          <a:p xmlns:a="http://schemas.openxmlformats.org/drawingml/2006/main">
            <a:r>
              <a:t>- C:\Users\Eray\SEZAR\PROJECTS\QueryPilot\docs\technical-spike.md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the full engineering runtime with the deployable portfolio surface. Neither runtime lets the model create evidence or citations.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C:\Users\Eray\SEZAR\PROJECTS\QueryPilot\docs\architecture.md</a:t>
            </a:r>
          </a:p>
          <a:p xmlns:a="http://schemas.openxmlformats.org/drawingml/2006/main">
            <a:r>
              <a:t>- C:\Users\Eray\SEZAR\PROJECTS\QueryPilot\README.md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language model cannot author technical prose. If rule evidence is absent, the system returns no clear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C:\Users\Eray\SEZAR\PROJECTS\QueryPilot\README.md</a:t>
            </a:r>
          </a:p>
          <a:p xmlns:a="http://schemas.openxmlformats.org/drawingml/2006/main">
            <a:r>
              <a:t>- C:\Users\Eray\SEZAR\PROJECTS\QueryPilot\docs\technical-spike.md</a:t>
            </a:r>
          </a:p>
          <a:p xmlns:a="http://schemas.openxmlformats.org/drawingml/2006/main">
            <a:r>
              <a:t>- C:\Users\Eray\SEZAR\PROJECTS\QueryPilot\docs\architecture.md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MVP fixture results, not production benchmarks. The 20,243 ms average is the reason inference is off the primary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C:\Users\Eray\SEZAR\PROJECTS\QueryPilot\evaluation\results_qwen2.5-1.5b.json</a:t>
            </a:r>
          </a:p>
          <a:p xmlns:a="http://schemas.openxmlformats.org/drawingml/2006/main">
            <a:r>
              <a:t>- C:\Users\Eray\SEZAR\PROJECTS\QueryPilot\docs\technical-spike.md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measured plan change, then state the boundary: this is a local synthetic fixture, not a production performance guarantee. The five-minute demo video remains the final manual release artefact.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C:\Users\Eray\SEZAR\PROJECTS\QueryPilot\evaluation\before_after_benchmark.json</a:t>
            </a:r>
          </a:p>
          <a:p xmlns:a="http://schemas.openxmlformats.org/drawingml/2006/main">
            <a:r>
              <a:t>- C:\Users\Eray\SEZAR\PROJECTS\QueryPilot\docs\demo-script.md</a:t>
            </a:r>
          </a:p>
          <a:p xmlns:a="http://schemas.openxmlformats.org/drawingml/2006/main">
            <a:r>
              <a:t>- C:\Users\Eray\SEZAR\PROJECTS\QueryPilot\docs\architecture.md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82024a7a647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a7de7e03054a19" /><Relationship Type="http://schemas.openxmlformats.org/officeDocument/2006/relationships/slideLayout" Target="/ppt/slideLayouts/slideLayout1.xml" Id="Rd9bfae554d434a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bfae554d434a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638f24fd44e70" /><Relationship Type="http://schemas.openxmlformats.org/officeDocument/2006/relationships/notesSlide" Target="/ppt/notesSlides/notesSlide1.xml" Id="Rf6e1327172824d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697e79d194a0d" /><Relationship Type="http://schemas.openxmlformats.org/officeDocument/2006/relationships/notesSlide" Target="/ppt/notesSlides/notesSlide2.xml" Id="Rdf8407e0b0a441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6931eeac747fb" /><Relationship Type="http://schemas.openxmlformats.org/officeDocument/2006/relationships/notesSlide" Target="/ppt/notesSlides/notesSlide3.xml" Id="R51621464ada144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62f000cfd4352" /><Relationship Type="http://schemas.openxmlformats.org/officeDocument/2006/relationships/notesSlide" Target="/ppt/notesSlides/notesSlide4.xml" Id="R5e10aec71f6a41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5ce2b9aec4c73" /><Relationship Type="http://schemas.openxmlformats.org/officeDocument/2006/relationships/notesSlide" Target="/ppt/notesSlides/notesSlide5.xml" Id="Rb81a88a4317e49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d8c76dc304f2a" /><Relationship Type="http://schemas.openxmlformats.org/officeDocument/2006/relationships/notesSlide" Target="/ppt/notesSlides/notesSlide6.xml" Id="R99d63c777002487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5A278BF1-5558-4B9F-9A87-03FF8E65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first.
LLM second.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28405C4-9AB8-43B5-A208-1B29A348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Offline PostgreSQL plan analysis with a deterministic correctness path.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CB6AAF0-C754-46A3-8ABA-0F6CF040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QUERYPILOT LOCAL</a:t>
            </a:r>
          </a:p>
        </p:txBody>
      </p:sp>
      <p:sp>
        <p:nvSpPr>
          <p:cNvPr id="4" name="accent-1">
            <a:extLst xmlns:a="http://schemas.openxmlformats.org/drawingml/2006/main">
              <a:ext uri="{FF2B5EF4-FFF2-40B4-BE49-F238E27FC236}">
                <a16:creationId xmlns:a16="http://schemas.microsoft.com/office/drawing/2014/main" id="{7500C7AC-8B17-42B8-9968-CBDEC657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38875"/>
            <a:ext cx="1390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82677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A5FCEA2-F11E-4111-A712-76EEC6DB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9FD6FF5-B998-444D-A45B-93B6B256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fast path ends before the model starts</a:t>
            </a:r>
          </a:p>
        </p:txBody>
      </p:sp>
      <p:cxnSp>
        <p:nvCxnSpPr>
          <p:cNvPr id="22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C9DD591-A3CA-403B-B4CD-24ECA031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EDA81D7-361B-4191-B80C-07A6020C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09F7291-05FE-4069-AFD0-38744054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2D3152A-C700-4025-BEB5-53D309C7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VALIDATE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877A6DE-0B1E-47F1-B56D-B924C3DF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 PROVE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C9F6346-9075-4C66-B1EF-262A559D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3. EXPLAIN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D036F57-CCE2-44AE-A208-EB4E2FFA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 evidence
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Normalize JSON + apply deterministic rules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6A588220-4858-463E-823D-2B10B41F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Read-only SQL
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AST gate + 3 s database timeout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7E58C7B-2420-4CF5-A5AA-DCC30F6F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Optional wording
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Retrieve docs + select approved sentences</a:t>
            </a:r>
          </a:p>
        </p:txBody>
      </p:sp>
      <p:sp>
        <p:nvSpPr>
          <p:cNvPr id="13" name="accent-2">
            <a:extLst xmlns:a="http://schemas.openxmlformats.org/drawingml/2006/main">
              <a:ext uri="{FF2B5EF4-FFF2-40B4-BE49-F238E27FC236}">
                <a16:creationId xmlns:a16="http://schemas.microsoft.com/office/drawing/2014/main" id="{5295A5C2-3731-4D67-A2C7-1E1ABD2D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38875"/>
            <a:ext cx="1390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952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078801D-3905-4552-AE11-ABB987A5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214C1CB-ABEF-42B5-ACB7-546B506A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runtimes share one trust boundary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64D64438-28A5-46FB-9067-738EC40C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read-only SELECT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153BFEF-0564-4011-8022-C05BE7B6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Input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1AB91F34-09C2-4D0E-9BDC-93A011B4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Parser + rule engine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777CB42-F6CA-4A5B-84C1-E65BBF4D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Core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FA73D41-0D24-463B-9EB2-7B6CE07E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RAG + sentence IDs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DB59F7D9-154A-4E98-8767-942D984D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Optional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4F0E8163-34CB-42F5-8A55-B02BE4EE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EXPLAIN JSON in browser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ECBD5FCE-96D9-45DF-976B-99F87459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23D88FCB-78AA-4866-89FD-90E69A4A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RUNTIME
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 + FastAPI + rules + optional Foundry.
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 DEMO
Browser-only plan JSON; no database or model.</a:t>
            </a:r>
          </a:p>
        </p:txBody>
      </p:sp>
      <p:sp>
        <p:nvSpPr>
          <p:cNvPr id="12" name="accent-3">
            <a:extLst xmlns:a="http://schemas.openxmlformats.org/drawingml/2006/main">
              <a:ext uri="{FF2B5EF4-FFF2-40B4-BE49-F238E27FC236}">
                <a16:creationId xmlns:a16="http://schemas.microsoft.com/office/drawing/2014/main" id="{A3D71EA2-8CE2-4036-98D7-25AC870B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38875"/>
            <a:ext cx="1390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94418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845A60C-A345-42FD-9EE2-83DDEDB1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E42DB37-ECAD-4626-B236-F03DE4D6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evidence means no recommendation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9953B58-4478-4558-9FF7-F6FB1842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Reliability is enforced in code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C8C4FDA-9DEE-4CAD-9076-CD997936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Single read-only SELECT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2FD8B6B3-2B3B-4AE8-8463-77C08D20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C3E55AA2-4E8C-490B-93E2-7DBFE4FD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Category, severity, plan evidence, SQL and citations are application-owned.</a:t>
            </a:r>
          </a:p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Unknown IDs, invented citations, extra prose and malformed output fall back safely.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368DD01-173B-4C86-9231-FD42E6B4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 evidence required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334D68B5-0337-40B0-AEE0-D94CB4F2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0AC4D457-859E-4287-A22E-261E3C29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Unknown citations rejected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B0D41DAA-365C-49E1-9DF1-46DB9959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A03A337A-5574-49ED-83AB-1FDE0F47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632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Recommendation SQL is display-only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74C9CDC1-04B8-4541-BCD7-C38C901A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AAE95422-6FF5-413A-95D2-3346E005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No-answer is a valid result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B069F0EC-C67E-4B1E-AE79-20E462F9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accent-4">
            <a:extLst xmlns:a="http://schemas.openxmlformats.org/drawingml/2006/main">
              <a:ext uri="{FF2B5EF4-FFF2-40B4-BE49-F238E27FC236}">
                <a16:creationId xmlns:a16="http://schemas.microsoft.com/office/drawing/2014/main" id="{6EA4212E-2D4D-40C4-85C0-DBA55064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38875"/>
            <a:ext cx="1390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2822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38D5692B-A2FF-44B6-98FE-1EE9B57B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3955F8C0-33C5-4E20-9EC7-EF5F5356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D3E9E7AD-73EF-4F13-A8A1-3468E03A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3EE76232-D4BD-4F16-B1A2-C1D7995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7BB5C19-28E4-4BEB-A498-B06219C6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MVP fixtures pass; CPU enrichment stays optional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3B2BAB8-177A-460A-B175-AF08E23C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Rule diagnosis
and no-answer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65C903F-B7C0-4C25-B8E0-BF2736B1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Average optional
CPU selection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4CA4F8C-84E0-4ED6-A3E1-3F483632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Retrieval
Hit@3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727195B9-4954-4E33-83D1-05160D15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12/12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1FCAC2D5-2157-4EC4-8AAC-AB5C5C71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9/9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5422575-0AAB-40AD-8EB6-709E6D6C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20.2 s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6CE496AC-1924-47D4-9A20-4EF1BBE3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MEASURED RESULT
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 committed scenarios. Citations were valid in 4/4 generation samples; the 1.5B selector was accepted in 4/4.</a:t>
            </a:r>
          </a:p>
        </p:txBody>
      </p:sp>
      <p:sp>
        <p:nvSpPr>
          <p:cNvPr id="13" name="accent-5">
            <a:extLst xmlns:a="http://schemas.openxmlformats.org/drawingml/2006/main">
              <a:ext uri="{FF2B5EF4-FFF2-40B4-BE49-F238E27FC236}">
                <a16:creationId xmlns:a16="http://schemas.microsoft.com/office/drawing/2014/main" id="{06996E84-C2B7-418C-962D-1AE1DA4F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38875"/>
            <a:ext cx="1390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42301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63555CB8-DF55-41FE-8719-785965CD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Proof measured.
Limits explicit.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550E929-5883-45F0-9BD6-43BFA816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10150"/>
            <a:ext cx="7239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1.671 ms Seq Scan → 0.074 ms Index Scan (7-run medians)</a:t>
            </a:r>
          </a:p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fixture only · optional CPU enrichment</a:t>
            </a:r>
          </a:p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Next: tool-calling v2 · querypilot.eraykulkizaga.com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3D8D78D-D864-4EB0-B3BA-ECDDF3DC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4" name="accent-6">
            <a:extLst xmlns:a="http://schemas.openxmlformats.org/drawingml/2006/main">
              <a:ext uri="{FF2B5EF4-FFF2-40B4-BE49-F238E27FC236}">
                <a16:creationId xmlns:a16="http://schemas.microsoft.com/office/drawing/2014/main" id="{780F12AD-9195-44C1-98F7-497C40D8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38875"/>
            <a:ext cx="1390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7855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2026-07-27T08:15:31.3290000Z</dcterms:created>
  <dcterms:modified xsi:type="dcterms:W3CDTF">2026-07-27T08:15:31.3290000Z</dcterms:modified>
</coreProperties>
</file>