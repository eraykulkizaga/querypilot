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2d4bb451964a8f" /><Relationship Type="http://schemas.openxmlformats.org/officeDocument/2006/relationships/extended-properties" Target="/docProps/app.xml" Id="R39ec28377c3a47ee" /><Relationship Type="http://schemas.openxmlformats.org/officeDocument/2006/relationships/officeDocument" Target="/ppt/presentation.xml" Id="Rad7899401b1546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371a3ce10d44d0"/>
  </p:sldMasterIdLst>
  <p:notesMasterIdLst>
    <p:notesMasterId xmlns:r="http://schemas.openxmlformats.org/officeDocument/2006/relationships" r:id="Rc8c1c974e56b4306"/>
  </p:notesMasterIdLst>
  <p:sldIdLst>
    <p:sldId xmlns:r="http://schemas.openxmlformats.org/officeDocument/2006/relationships" id="256" r:id="Rf42f73b39dac4c49"/>
    <p:sldId xmlns:r="http://schemas.openxmlformats.org/officeDocument/2006/relationships" id="257" r:id="Rc49edb43ca924f7d"/>
    <p:sldId xmlns:r="http://schemas.openxmlformats.org/officeDocument/2006/relationships" id="258" r:id="R45a3bb44f95846e0"/>
    <p:sldId xmlns:r="http://schemas.openxmlformats.org/officeDocument/2006/relationships" id="259" r:id="R4c10d95c5b8744b8"/>
    <p:sldId xmlns:r="http://schemas.openxmlformats.org/officeDocument/2006/relationships" id="260" r:id="Rf08b8322557e4b1a"/>
    <p:sldId xmlns:r="http://schemas.openxmlformats.org/officeDocument/2006/relationships" id="261" r:id="Rb64ac127379249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ab748163f44339" /><Relationship Type="http://schemas.openxmlformats.org/officeDocument/2006/relationships/slideMaster" Target="/ppt/slideMasters/slideMaster1.xml" Id="Ra1371a3ce10d44d0" /><Relationship Type="http://schemas.openxmlformats.org/officeDocument/2006/relationships/notesMaster" Target="/ppt/notesMasters/notesMaster1.xml" Id="Rc8c1c974e56b4306" /><Relationship Type="http://schemas.openxmlformats.org/officeDocument/2006/relationships/presProps" Target="/ppt/presProps.xml" Id="R648a88db5d3f485b" /><Relationship Type="http://schemas.openxmlformats.org/officeDocument/2006/relationships/tableStyles" Target="/ppt/tableStyles.xml" Id="Ra9d0da6ba7ae4f07" /><Relationship Type="http://schemas.openxmlformats.org/officeDocument/2006/relationships/slide" Target="/ppt/slides/slide1.xml" Id="Rf42f73b39dac4c49" /><Relationship Type="http://schemas.openxmlformats.org/officeDocument/2006/relationships/slide" Target="/ppt/slides/slide2.xml" Id="Rc49edb43ca924f7d" /><Relationship Type="http://schemas.openxmlformats.org/officeDocument/2006/relationships/slide" Target="/ppt/slides/slide3.xml" Id="R45a3bb44f95846e0" /><Relationship Type="http://schemas.openxmlformats.org/officeDocument/2006/relationships/slide" Target="/ppt/slides/slide4.xml" Id="R4c10d95c5b8744b8" /><Relationship Type="http://schemas.openxmlformats.org/officeDocument/2006/relationships/slide" Target="/ppt/slides/slide5.xml" Id="Rf08b8322557e4b1a" /><Relationship Type="http://schemas.openxmlformats.org/officeDocument/2006/relationships/slide" Target="/ppt/slides/slide6.xml" Id="Rb64ac127379249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d9f41699024f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66b078472f4b95" /><Relationship Type="http://schemas.openxmlformats.org/officeDocument/2006/relationships/notesMaster" Target="/ppt/notesMasters/notesMaster1.xml" Id="R442a1117ddf14d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8bbd8e2fa445a4" /><Relationship Type="http://schemas.openxmlformats.org/officeDocument/2006/relationships/notesMaster" Target="/ppt/notesMasters/notesMaster1.xml" Id="Rc65f86f8148e40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0e61cdaa03443c" /><Relationship Type="http://schemas.openxmlformats.org/officeDocument/2006/relationships/notesMaster" Target="/ppt/notesMasters/notesMaster1.xml" Id="R78434a2601984d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9801cb8f5b41f8" /><Relationship Type="http://schemas.openxmlformats.org/officeDocument/2006/relationships/notesMaster" Target="/ppt/notesMasters/notesMaster1.xml" Id="R1e848f23200541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3846f49d6249cd" /><Relationship Type="http://schemas.openxmlformats.org/officeDocument/2006/relationships/notesMaster" Target="/ppt/notesMasters/notesMaster1.xml" Id="R48559bc5798d4b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f8d7886b024ef1" /><Relationship Type="http://schemas.openxmlformats.org/officeDocument/2006/relationships/notesMaster" Target="/ppt/notesMasters/notesMaster1.xml" Id="R8793360a61bb43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central design choice: rules own the diagnosis and plan evidence; local AI uses retrieved sources to explain the finding.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C:\Users\Eray\SEZAR\PROJECTS\QueryPilot\README.md</a:t>
            </a:r>
          </a:p>
          <a:p xmlns:a="http://schemas.openxmlformats.org/drawingml/2006/main">
            <a:r>
              <a:t>- C:\Users\Eray\SEZAR\PROJECTS\QueryPilot\docs\architecture.md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deterministic diagnosis is complete before retrieval or inference. AI enrichment is a separate grounded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C:\Users\Eray\SEZAR\PROJECTS\QueryPilot\docs\architecture.md</a:t>
            </a:r>
          </a:p>
          <a:p xmlns:a="http://schemas.openxmlformats.org/drawingml/2006/main">
            <a:r>
              <a:t>- C:\Users\Eray\SEZAR\PROJECTS\QueryPilot\docs\technical-spike.md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full engineering runtime with the public browser demo. The model generates prose locally, but it cannot create plan evidence or citation IDs.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C:\Users\Eray\SEZAR\PROJECTS\QueryPilot\docs\architecture.md</a:t>
            </a:r>
          </a:p>
          <a:p xmlns:a="http://schemas.openxmlformats.org/drawingml/2006/main">
            <a:r>
              <a:t>- C:\Users\Eray\SEZAR\PROJECTS\QueryPilot\README.md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may write technical prose only after plan evidence and category-supporting RAG chunks exist. Unknown IDs or invented facts are rejected.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C:\Users\Eray\SEZAR\PROJECTS\QueryPilot\README.md</a:t>
            </a:r>
          </a:p>
          <a:p xmlns:a="http://schemas.openxmlformats.org/drawingml/2006/main">
            <a:r>
              <a:t>- C:\Users\Eray\SEZAR\PROJECTS\QueryPilot\docs\technical-spike.md</a:t>
            </a:r>
          </a:p>
          <a:p xmlns:a="http://schemas.openxmlformats.org/drawingml/2006/main">
            <a:r>
              <a:t>- C:\Users\Eray\SEZAR\PROJECTS\QueryPilot\docs\architecture.md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fixture results, not production benchmarks. Grounded generation passed 4/4 evaluated cases; 48,256 ms average CPU latency keeps inference off the primary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C:\Users\Eray\SEZAR\PROJECTS\QueryPilot\evaluation\results.json</a:t>
            </a:r>
          </a:p>
          <a:p xmlns:a="http://schemas.openxmlformats.org/drawingml/2006/main">
            <a:r>
              <a:t>- C:\Users\Eray\SEZAR\PROJECTS\QueryPilot\docs\technical-spike.md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measured plan evidence, grounded AI proof, and the remaining boundary: this is a local synthetic fixture, not a production performance guarantee.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C:\Users\Eray\SEZAR\PROJECTS\QueryPilot\evaluation\before_after_benchmark.json</a:t>
            </a:r>
          </a:p>
          <a:p xmlns:a="http://schemas.openxmlformats.org/drawingml/2006/main">
            <a:r>
              <a:t>- C:\Users\Eray\SEZAR\PROJECTS\QueryPilot\evaluation\results.json</a:t>
            </a:r>
          </a:p>
          <a:p xmlns:a="http://schemas.openxmlformats.org/drawingml/2006/main">
            <a:r>
              <a:t>- C:\Users\Eray\SEZAR\PROJECTS\QueryPilot\docs\v2-beta.md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c10db7771743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c09cdb74fc4362" /><Relationship Type="http://schemas.openxmlformats.org/officeDocument/2006/relationships/slideLayout" Target="/ppt/slideLayouts/slideLayout1.xml" Id="Rbfc335b3a8794e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c335b3a8794e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a122b9ba3c43be" /><Relationship Type="http://schemas.openxmlformats.org/officeDocument/2006/relationships/notesSlide" Target="/ppt/notesSlides/notesSlide1.xml" Id="Rc2ec421813f54b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a3c63ae1c4559" /><Relationship Type="http://schemas.openxmlformats.org/officeDocument/2006/relationships/notesSlide" Target="/ppt/notesSlides/notesSlide2.xml" Id="R68cfaf8ef26546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cc6bc8cc894819" /><Relationship Type="http://schemas.openxmlformats.org/officeDocument/2006/relationships/notesSlide" Target="/ppt/notesSlides/notesSlide3.xml" Id="Rbde6b8e365df43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3ba6a89884ac1" /><Relationship Type="http://schemas.openxmlformats.org/officeDocument/2006/relationships/notesSlide" Target="/ppt/notesSlides/notesSlide4.xml" Id="R1df5514655834f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3771b364964222" /><Relationship Type="http://schemas.openxmlformats.org/officeDocument/2006/relationships/notesSlide" Target="/ppt/notesSlides/notesSlide5.xml" Id="Rd2099fdf771f48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3cf93f23c4b6e" /><Relationship Type="http://schemas.openxmlformats.org/officeDocument/2006/relationships/notesSlide" Target="/ppt/notesSlides/notesSlide6.xml" Id="R1ff94f5310544ce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5A278BF1-5558-4B9F-9A87-03FF8E65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 first.
AI explains.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E28405C4-9AB8-43B5-A208-1B29A348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Offline PostgreSQL plan analysis with deterministic rules, local RAG and grounded AI.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ECB6AAF0-C754-46A3-8ABA-0F6CF040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QUERYPILOT LOCAL</a:t>
            </a:r>
          </a:p>
        </p:txBody>
      </p:sp>
      <p:sp>
        <p:nvSpPr>
          <p:cNvPr id="4" name="accent-1">
            <a:extLst xmlns:a="http://schemas.openxmlformats.org/drawingml/2006/main">
              <a:ext uri="{FF2B5EF4-FFF2-40B4-BE49-F238E27FC236}">
                <a16:creationId xmlns:a16="http://schemas.microsoft.com/office/drawing/2014/main" id="{7500C7AC-8B17-42B8-9968-CBDEC657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6826776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6A5FCEA2-F11E-4111-A712-76EEC6DB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79FD6FF5-B998-444D-A45B-93B6B256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diagnosis is complete before the model starts</a:t>
            </a:r>
          </a:p>
        </p:txBody>
      </p:sp>
      <p:cxnSp>
        <p:nvCxnSpPr>
          <p:cNvPr id="28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CC9DD591-A3CA-403B-B4CD-24ECA031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FEDA81D7-361B-4191-B80C-07A6020C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09F7291-05FE-4069-AFD0-38744054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92D3152A-C700-4025-BEB5-53D309C7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1. VALIDATE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B877A6DE-0B1E-47F1-B56D-B924C3DF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2. PROVE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5C9F6346-9075-4C66-B1EF-262A559D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3. GROUND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9D036F57-CCE2-44AE-A208-EB4E2FFA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Plan evidence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Normalize JSON + apply deterministic rules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6A588220-4858-463E-823D-2B10B41F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Read-only SQL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AST gate + 3 s database timeout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67E58C7B-2420-4CF5-A5AA-DCC30F6F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Grounded AI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Retrieve chunks + generate evidence-bound prose</a:t>
            </a:r>
          </a:p>
        </p:txBody>
      </p:sp>
      <p:sp>
        <p:nvSpPr>
          <p:cNvPr id="13" name="accent-2">
            <a:extLst xmlns:a="http://schemas.openxmlformats.org/drawingml/2006/main">
              <a:ext uri="{FF2B5EF4-FFF2-40B4-BE49-F238E27FC236}">
                <a16:creationId xmlns:a16="http://schemas.microsoft.com/office/drawing/2014/main" id="{5295A5C2-3731-4D67-A2C7-1E1ABD2D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0952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078801D-3905-4552-AE11-ABB987A5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0214C1CB-ABEF-42B5-ACB7-546B506A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Local AI + RAG extends the deterministic core</a:t>
            </a:r>
          </a:p>
        </p:txBody>
      </p:sp>
      <p:sp>
        <p:nvSpPr>
          <p:cNvPr id="3" name="Content-Placeholder-10-4">
            <a:extLst xmlns:a="http://schemas.openxmlformats.org/drawingml/2006/main">
              <a:ext uri="{FF2B5EF4-FFF2-40B4-BE49-F238E27FC236}">
                <a16:creationId xmlns:a16="http://schemas.microsoft.com/office/drawing/2014/main" id="{64D64438-28A5-46FB-9067-738EC40C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8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read-only SELECT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A153BFEF-0564-4011-8022-C05BE7B6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23748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Input</a:t>
            </a:r>
          </a:p>
        </p:txBody>
      </p:sp>
      <p:sp>
        <p:nvSpPr>
          <p:cNvPr id="5" name="Content-Placeholder-10-6">
            <a:extLst xmlns:a="http://schemas.openxmlformats.org/drawingml/2006/main">
              <a:ext uri="{FF2B5EF4-FFF2-40B4-BE49-F238E27FC236}">
                <a16:creationId xmlns:a16="http://schemas.microsoft.com/office/drawing/2014/main" id="{1AB91F34-09C2-4D0E-9BDC-93A011B4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4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Parser + rule engine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7777CB42-F6CA-4A5B-84C1-E65BBF4D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33654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Core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FFA73D41-0D24-463B-9EB2-7B6CE07E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068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RAG chunks + grounded AI prose</a:t>
            </a:r>
          </a:p>
        </p:txBody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DB59F7D9-154A-4E98-8767-942D984D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4356068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Optional</a:t>
            </a:r>
          </a:p>
        </p:txBody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4F0E8163-34CB-42F5-8A55-B02BE4EE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32"/>
            <a:ext cx="4826032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EXPLAIN JSON in browser</a:t>
            </a:r>
          </a:p>
        </p:txBody>
      </p:sp>
      <p:sp>
        <p:nvSpPr>
          <p:cNvPr id="10" name="Content-Placeholder-10-11">
            <a:extLst xmlns:a="http://schemas.openxmlformats.org/drawingml/2006/main">
              <a:ext uri="{FF2B5EF4-FFF2-40B4-BE49-F238E27FC236}">
                <a16:creationId xmlns:a16="http://schemas.microsoft.com/office/drawing/2014/main" id="{ECBD5FCE-96D9-45DF-976B-99F87459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368" y="5359432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Public</a:t>
            </a:r>
          </a:p>
        </p:txBody>
      </p:sp>
      <p:sp>
        <p:nvSpPr>
          <p:cNvPr id="11" name="Google-Shape-534-p58-12">
            <a:extLst xmlns:a="http://schemas.openxmlformats.org/drawingml/2006/main">
              <a:ext uri="{FF2B5EF4-FFF2-40B4-BE49-F238E27FC236}">
                <a16:creationId xmlns:a16="http://schemas.microsoft.com/office/drawing/2014/main" id="{23D88FCB-78AA-4866-89FD-90E69A4A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374868"/>
            <a:ext cx="3568732" cy="3619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LOCAL RUNTIME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PostgreSQL + FastAPI + rules + RAG + Foundry.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PUBLIC DEMO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Browser-only plan JSON; no database or model.</a:t>
            </a:r>
          </a:p>
        </p:txBody>
      </p:sp>
      <p:sp>
        <p:nvSpPr>
          <p:cNvPr id="12" name="accent-3">
            <a:extLst xmlns:a="http://schemas.openxmlformats.org/drawingml/2006/main">
              <a:ext uri="{FF2B5EF4-FFF2-40B4-BE49-F238E27FC236}">
                <a16:creationId xmlns:a16="http://schemas.microsoft.com/office/drawing/2014/main" id="{A3D71EA2-8CE2-4036-98D7-25AC870B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2944186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845A60C-A345-42FD-9EE2-83DDEDB1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E42DB37-ECAD-4626-B236-F03DE4D6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evidence, no AI recommendation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39953B58-4478-4558-9FF7-F6FB1842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8651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Reliability is enforced before and after generation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AC8C4FDA-9DEE-4CAD-9076-CD997936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Single read-only SELECT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2FD8B6B3-2B3B-4AE8-8463-77C08D20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0151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C3E55AA2-4E8C-490B-93E2-7DBFE4FD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Category, severity, raw plan evidence and recommendation SQL are application-owned.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Generated prose must reference known evidence and retrieved chunk IDs. Invented metrics, identifiers or citations fall back safely.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5368DD01-173B-4C86-9231-FD42E6B4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Plan evidence required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334D68B5-0337-40B0-AEE0-D94CB4F2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247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0AC4D457-859E-4287-A22E-261E3C29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Retrieved citation IDs only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B0D41DAA-365C-49E1-9DF1-46DB9959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395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A03A337A-5574-49ED-83AB-1FDE0F47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7883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Recommendation SQL stays display-only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74C9CDC1-04B8-4541-BCD7-C38C901A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491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AAE95422-6FF5-413A-95D2-3346E005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No-answer is a valid result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B069F0EC-C67E-4B1E-AE79-20E462F9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71541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5" name="accent-4">
            <a:extLst xmlns:a="http://schemas.openxmlformats.org/drawingml/2006/main">
              <a:ext uri="{FF2B5EF4-FFF2-40B4-BE49-F238E27FC236}">
                <a16:creationId xmlns:a16="http://schemas.microsoft.com/office/drawing/2014/main" id="{6EA4212E-2D4D-40C4-85C0-DBA55064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82822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38D5692B-A2FF-44B6-98FE-1EE9B57B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3955F8C0-33C5-4E20-9EC7-EF5F5356E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D3E9E7AD-73EF-4F13-A8A1-3468E03A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3EE76232-D4BD-4F16-B1A2-C1D79957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E7BB5C19-28E4-4BEB-A498-B06219C6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Grounded AI passes 4/4; CPU latency stays optional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13B2BAB8-177A-460A-B175-AF08E23C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Rule diagnosis
and no-answer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65C903F-B7C0-4C25-B8E0-BF2736B1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Average optional
CPU generation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A4CA4F8C-84E0-4ED6-A3E1-3F483632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Retrieval
Hit@3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727195B9-4954-4E33-83D1-05160D15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12/12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1FCAC2D5-2157-4EC4-8AAC-AB5C5C71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9/9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25422575-0AAB-40AD-8EB6-709E6D6C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48.3 s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6CE496AC-1924-47D4-9A20-4EF1BBE3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MEASURED RESULT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 committed scenarios. Rule and no-answer: 12/12; retrieval Hit@3: 9/9; grounded reports and citations: 4/4.</a:t>
            </a:r>
          </a:p>
        </p:txBody>
      </p:sp>
      <p:sp>
        <p:nvSpPr>
          <p:cNvPr id="13" name="accent-5">
            <a:extLst xmlns:a="http://schemas.openxmlformats.org/drawingml/2006/main">
              <a:ext uri="{FF2B5EF4-FFF2-40B4-BE49-F238E27FC236}">
                <a16:creationId xmlns:a16="http://schemas.microsoft.com/office/drawing/2014/main" id="{06996E84-C2B7-418C-962D-1AE1DA4F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0423013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-3-1">
            <a:extLst xmlns:a="http://schemas.openxmlformats.org/drawingml/2006/main">
              <a:ext uri="{FF2B5EF4-FFF2-40B4-BE49-F238E27FC236}">
                <a16:creationId xmlns:a16="http://schemas.microsoft.com/office/drawing/2014/main" id="{63555CB8-DF55-41FE-8719-785965CD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Proof measured.
AI grounded.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550E929-5883-45F0-9BD6-43BFA816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5010150"/>
            <a:ext cx="72390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1.671 ms Seq Scan → 0.074 ms Index Scan (7-run medians)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Grounded generation 4/4 · valid citations 4/4 · CPU average 48.3 s</a:t>
            </a:r>
          </a:p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Local fixture only · next: authorized non-production pilot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03D8D78D-D864-4EB0-B3BA-ECDDF3DC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</a:t>
            </a:r>
          </a:p>
        </p:txBody>
      </p:sp>
      <p:sp>
        <p:nvSpPr>
          <p:cNvPr id="4" name="accent-6">
            <a:extLst xmlns:a="http://schemas.openxmlformats.org/drawingml/2006/main">
              <a:ext uri="{FF2B5EF4-FFF2-40B4-BE49-F238E27FC236}">
                <a16:creationId xmlns:a16="http://schemas.microsoft.com/office/drawing/2014/main" id="{780F12AD-9195-44C1-98F7-497C40D8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38875"/>
            <a:ext cx="13906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678553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2026-07-30T14:32:54.0910000Z</dcterms:created>
  <dcterms:modified xsi:type="dcterms:W3CDTF">2026-07-30T14:32:54.0910000Z</dcterms:modified>
</coreProperties>
</file>